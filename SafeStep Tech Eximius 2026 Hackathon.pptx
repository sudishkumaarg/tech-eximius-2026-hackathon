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SafeStep. Emphasize: passive detection — no interaction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stats. Zero passive detection in market leaders — that's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independent sensing layers. ML fusion local — no internet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4-step flow. Stealth alert is silent — attacker doesn't know help is coming.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layers. ML runs on-device — data private. Cloud is fallback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impact. Three innovations + three real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4-guard pipeline. Emphasize the 10-second sustained window and the 15-second cancel prompt. Running for a bus = high motion but no audio scream and low-risk zone → no alert.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no continuous recording, no cloud streaming. The only moment audio is persisted is AFTER a confirmed alert — and it's encrypted, user-controlled, and deletable.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judge. Agree with them — the phone alone is sufficient and is our V1. ESP32 is a V2 wearable upgrade for scenarios where the phone is in a bag. This shows we've thought it through, not that we over-engineered.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2A3D6E"/>
          </a:solidFill>
          <a:ln w="12700">
            <a:solidFill>
              <a:srgbClr val="2A3D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822960"/>
            <a:ext cx="3200400" cy="3200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SafeStep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Passive Safety Companion for Women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931920"/>
            <a:ext cx="3657600" cy="411480"/>
          </a:xfrm>
          <a:prstGeom prst="roundRect">
            <a:avLst>
              <a:gd name="adj" fmla="val 22222"/>
            </a:avLst>
          </a:prstGeom>
          <a:solidFill>
            <a:srgbClr val="6C3FA2"/>
          </a:solidFill>
          <a:ln w="12700">
            <a:solidFill>
              <a:srgbClr val="6C3FA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931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&amp; Social Impact · Hackathon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937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danger passively — no button press needed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PROBLEM STATEMENT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in existing safety apps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5727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SOS apps fail at the moment they're needed most.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sx="100000" sy="100000" kx="0" ky="0" algn="bl" rotWithShape="0" blurRad="152400" dist="50800" dir="2700000">
              <a:srgbClr val="1E2D5A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0574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4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11480" y="3017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women feel unsafe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night in public spaces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sx="100000" sy="100000" kx="0" ky="0" algn="bl" rotWithShape="0" blurRad="152400" dist="50800" dir="2700000">
              <a:srgbClr val="1E2D5A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20574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4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4s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251960" y="3017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 before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victim can press SOS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19202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sx="100000" sy="100000" kx="0" ky="0" algn="bl" rotWithShape="0" blurRad="152400" dist="50800" dir="2700000">
              <a:srgbClr val="1E2D5A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92440" y="20574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E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092440" y="3017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detection 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top-5 safety apps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4297680"/>
            <a:ext cx="11365992" cy="457200"/>
          </a:xfrm>
          <a:prstGeom prst="roundRect">
            <a:avLst>
              <a:gd name="adj" fmla="val 16000"/>
            </a:avLst>
          </a:prstGeom>
          <a:solidFill>
            <a:srgbClr val="FFF1F3"/>
          </a:solidFill>
          <a:ln w="12700">
            <a:solidFill>
              <a:srgbClr val="F5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976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Existing apps like bSafe, Nirbhaya &amp; Shake2Safety all require manual trigger — unusable during physical assault or panic.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PROPOSED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SafeStep: always-on, no-touch protection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5727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sensing layers fused by an on-device ML engine.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3657600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sx="100000" sy="100000" kx="0" ky="0" algn="bl" rotWithShape="0" blurRad="152400" dist="50800" dir="2700000">
              <a:srgbClr val="1E2D5A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83080" y="2029968"/>
            <a:ext cx="868680" cy="868680"/>
          </a:xfrm>
          <a:prstGeom prst="ellipse">
            <a:avLst/>
          </a:prstGeom>
          <a:solidFill>
            <a:srgbClr val="6C3FA2">
              <a:alpha val="12000"/>
            </a:srgbClr>
          </a:solidFill>
          <a:ln w="12700">
            <a:solidFill>
              <a:srgbClr val="6C3FA2">
                <a:alpha val="12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672" y="2194560"/>
            <a:ext cx="530352" cy="530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ML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34564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screams, key phrases &amp; abnormal silence using a TFLite model running entirely on-device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04488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8C0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43400" y="1920240"/>
            <a:ext cx="3657600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sx="100000" sy="100000" kx="0" ky="0" algn="bl" rotWithShape="0" blurRad="152400" dist="50800" dir="2700000">
              <a:srgbClr val="1E2D5A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15000" y="2029968"/>
            <a:ext cx="868680" cy="868680"/>
          </a:xfrm>
          <a:prstGeom prst="ellipse">
            <a:avLst/>
          </a:prstGeom>
          <a:solidFill>
            <a:srgbClr val="E8445A">
              <a:alpha val="12000"/>
            </a:srgbClr>
          </a:solidFill>
          <a:ln w="12700">
            <a:solidFill>
              <a:srgbClr val="E8445A">
                <a:alpha val="12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2194560"/>
            <a:ext cx="530352" cy="5303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4340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AI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480560" y="34564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+ gyro patterns flag struggle, forced stop, or fall — even with the phone in a pocket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836408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8C0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8275320" y="1920240"/>
            <a:ext cx="3657600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sx="100000" sy="100000" kx="0" ky="0" algn="bl" rotWithShape="0" blurRad="152400" dist="50800" dir="2700000">
              <a:srgbClr val="1E2D5A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646920" y="2029968"/>
            <a:ext cx="868680" cy="868680"/>
          </a:xfrm>
          <a:prstGeom prst="ellipse">
            <a:avLst/>
          </a:prstGeom>
          <a:solidFill>
            <a:srgbClr val="0EA5A0">
              <a:alpha val="12000"/>
            </a:srgbClr>
          </a:solidFill>
          <a:ln w="12700">
            <a:solidFill>
              <a:srgbClr val="0EA5A0">
                <a:alpha val="12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2194560"/>
            <a:ext cx="530352" cy="5303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7532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IQ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12480" y="34564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Risk-scores zones by time, crowd density &amp; past incident data to dynamically adjust alert sensitivity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11480" y="484632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signals fused by on-device ML  ·  No cloud needed  ·  Works offline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FEATURES &amp; WORKFLOW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SafeStep works in real time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5727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passive sensing to multi-channel alert in under 10 seconds.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874520"/>
            <a:ext cx="621792" cy="621792"/>
          </a:xfrm>
          <a:prstGeom prst="ellipse">
            <a:avLst/>
          </a:prstGeom>
          <a:solidFill>
            <a:srgbClr val="6C3FA2"/>
          </a:solidFill>
          <a:ln w="12700">
            <a:solidFill>
              <a:srgbClr val="6C3F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745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2376" y="2496312"/>
            <a:ext cx="0" cy="219456"/>
          </a:xfrm>
          <a:prstGeom prst="line">
            <a:avLst/>
          </a:prstGeom>
          <a:noFill/>
          <a:ln w="19050">
            <a:solidFill>
              <a:srgbClr val="CBD5E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207008" y="18836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 sensing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07008" y="21762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+ motion + location sampled continuously in background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761488"/>
            <a:ext cx="621792" cy="621792"/>
          </a:xfrm>
          <a:prstGeom prst="ellipse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6148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2376" y="3383280"/>
            <a:ext cx="0" cy="219456"/>
          </a:xfrm>
          <a:prstGeom prst="line">
            <a:avLst/>
          </a:prstGeom>
          <a:noFill/>
          <a:ln w="19050">
            <a:solidFill>
              <a:srgbClr val="CBD5E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207008" y="27706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inference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3063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model scores threat level every 2 sec — no cloud latency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648456"/>
            <a:ext cx="621792" cy="621792"/>
          </a:xfrm>
          <a:prstGeom prst="ellipse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4845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2376" y="4270248"/>
            <a:ext cx="0" cy="219456"/>
          </a:xfrm>
          <a:prstGeom prst="line">
            <a:avLst/>
          </a:prstGeom>
          <a:noFill/>
          <a:ln w="19050">
            <a:solidFill>
              <a:srgbClr val="CBD5E8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1207008" y="36576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breach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07008" y="3950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80%: 30 s encrypted audio buffer locked for evidence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4535424"/>
            <a:ext cx="621792" cy="621792"/>
          </a:xfrm>
          <a:prstGeom prst="ellipse">
            <a:avLst/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5354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07008" y="454456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Stealth alert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7008" y="48371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stays off — GPS, clip &amp; timestamp sent to contacts + authorities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751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75120" y="2194560"/>
            <a:ext cx="512064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267712"/>
            <a:ext cx="256032" cy="25603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315200" y="22494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activation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675120" y="2706624"/>
            <a:ext cx="512064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779776"/>
            <a:ext cx="256032" cy="25603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315200" y="27614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 mode (dark screen)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675120" y="3218688"/>
            <a:ext cx="512064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3291840"/>
            <a:ext cx="256032" cy="25603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315200" y="32735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Multi-contact alert chain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6675120" y="3730752"/>
            <a:ext cx="512064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803904"/>
            <a:ext cx="256032" cy="25603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315200" y="378561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 (TinyML)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6675120" y="4242816"/>
            <a:ext cx="512064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4315968"/>
            <a:ext cx="256032" cy="25603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315200" y="4297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level live gauge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6675120" y="4754880"/>
            <a:ext cx="512064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4828032"/>
            <a:ext cx="256032" cy="25603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315200" y="480974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suppression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TECH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technologies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5727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Edge-first design — cloud is optional, never mandatory.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5486400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sx="100000" sy="100000" kx="0" ky="0" algn="bl" rotWithShape="0" blurRad="152400" dist="50800" dir="2700000">
              <a:srgbClr val="1E2D5A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956816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6C3FA2"/>
          </a:solidFill>
          <a:ln w="12700">
            <a:solidFill>
              <a:srgbClr val="6C3F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95681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layer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41401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05256" y="2395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MCU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743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05256" y="27249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INMP441 mic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072384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5256" y="30540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MPU-6050 IMU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401568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5256" y="3383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5.0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309360" y="1828800"/>
            <a:ext cx="5486400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sx="100000" sy="100000" kx="0" ky="0" algn="bl" rotWithShape="0" blurRad="152400" dist="50800" dir="2700000">
              <a:srgbClr val="1E2D5A">
                <a:alpha val="9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473952" y="1956816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473952" y="195681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layer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2414016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03136" y="239572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2743200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03136" y="27249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CNN model</a:t>
            </a:r>
            <a:endParaRPr lang="en-US" sz="12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528" y="3072384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803136" y="30540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(motion)</a:t>
            </a:r>
            <a:endParaRPr lang="en-US" sz="12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528" y="3401568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803136" y="3383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training pipeline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411480" y="3931920"/>
            <a:ext cx="5486400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sx="100000" sy="100000" kx="0" ky="0" algn="bl" rotWithShape="0" blurRad="152400" dist="50800" dir="2700000">
              <a:srgbClr val="1E2D5A">
                <a:alpha val="9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576072" y="4059936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0EA5A0"/>
          </a:solidFill>
          <a:ln w="12700">
            <a:solidFill>
              <a:srgbClr val="0EA5A0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576072" y="405993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layer</a:t>
            </a:r>
            <a:endParaRPr lang="en-US" sz="11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" y="4517136"/>
            <a:ext cx="201168" cy="20116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05256" y="44988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12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4846320"/>
            <a:ext cx="201168" cy="20116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905256" y="48280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SDK</a:t>
            </a:r>
            <a:endParaRPr lang="en-US" sz="12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8" y="5175504"/>
            <a:ext cx="201168" cy="201168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905256" y="51572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DB</a:t>
            </a:r>
            <a:endParaRPr lang="en-US" sz="120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5504688"/>
            <a:ext cx="201168" cy="201168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905256" y="5486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(SMS alerts)</a:t>
            </a:r>
            <a:endParaRPr lang="en-US" sz="1200" dirty="0"/>
          </a:p>
        </p:txBody>
      </p:sp>
      <p:sp>
        <p:nvSpPr>
          <p:cNvPr id="39" name="Shape 25"/>
          <p:cNvSpPr/>
          <p:nvPr/>
        </p:nvSpPr>
        <p:spPr>
          <a:xfrm>
            <a:off x="6309360" y="3931920"/>
            <a:ext cx="5486400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sx="100000" sy="100000" kx="0" ky="0" algn="bl" rotWithShape="0" blurRad="152400" dist="50800" dir="2700000">
              <a:srgbClr val="1E2D5A">
                <a:alpha val="9000"/>
              </a:srgbClr>
            </a:outerShdw>
          </a:effectLst>
        </p:spPr>
      </p:sp>
      <p:sp>
        <p:nvSpPr>
          <p:cNvPr id="40" name="Shape 26"/>
          <p:cNvSpPr/>
          <p:nvPr/>
        </p:nvSpPr>
        <p:spPr>
          <a:xfrm>
            <a:off x="6473952" y="4059936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1" name="Text 27"/>
          <p:cNvSpPr/>
          <p:nvPr/>
        </p:nvSpPr>
        <p:spPr>
          <a:xfrm>
            <a:off x="6473952" y="405993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Maps</a:t>
            </a:r>
            <a:endParaRPr lang="en-US" sz="110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0528" y="4517136"/>
            <a:ext cx="201168" cy="201168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6803136" y="44988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00" dirty="0"/>
          </a:p>
        </p:txBody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0528" y="4846320"/>
            <a:ext cx="201168" cy="201168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6803136" y="48280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API</a:t>
            </a:r>
            <a:endParaRPr lang="en-US" sz="1200" dirty="0"/>
          </a:p>
        </p:txBody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10528" y="5175504"/>
            <a:ext cx="201168" cy="201168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6803136" y="51572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risk scoring</a:t>
            </a:r>
            <a:endParaRPr lang="en-US" sz="1200" dirty="0"/>
          </a:p>
        </p:txBody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0528" y="5504688"/>
            <a:ext cx="201168" cy="201168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6803136" y="5486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INNOVATION &amp;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SafeStep different — and why it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6400800" cy="1133856"/>
          </a:xfrm>
          <a:prstGeom prst="roundRect">
            <a:avLst>
              <a:gd name="adj" fmla="val 967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3677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button press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96596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passive distress detection using fused ML — works even if the victim is pinned down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1480" y="2770632"/>
            <a:ext cx="6400800" cy="1133856"/>
          </a:xfrm>
          <a:prstGeom prst="roundRect">
            <a:avLst>
              <a:gd name="adj" fmla="val 967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90672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89864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on-device ML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80160" y="3227832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runs on the phone CPU. No cloud round-trip means &lt; 2 s latency and full offline operation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11480" y="4032504"/>
            <a:ext cx="6400800" cy="1133856"/>
          </a:xfrm>
          <a:prstGeom prst="roundRect">
            <a:avLst>
              <a:gd name="adj" fmla="val 967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52544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1605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Evidence-grade logging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80160" y="4489704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30 s audio clip + GPS trail submitted automatically — usable as evidence in legal proceedings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360920" y="14630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DA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impact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360920" y="1920240"/>
            <a:ext cx="4434840" cy="1078992"/>
          </a:xfrm>
          <a:prstGeom prst="roundRect">
            <a:avLst>
              <a:gd name="adj" fmla="val 1016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360920" y="199339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800M+</a:t>
            </a:r>
            <a:endParaRPr lang="en-US" sz="3800" dirty="0"/>
          </a:p>
        </p:txBody>
      </p:sp>
      <p:sp>
        <p:nvSpPr>
          <p:cNvPr id="19" name="Text 14"/>
          <p:cNvSpPr/>
          <p:nvPr/>
        </p:nvSpPr>
        <p:spPr>
          <a:xfrm>
            <a:off x="7360920" y="256032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globally who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safety tools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360920" y="3182112"/>
            <a:ext cx="4434840" cy="1078992"/>
          </a:xfrm>
          <a:prstGeom prst="roundRect">
            <a:avLst>
              <a:gd name="adj" fmla="val 1016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360920" y="325526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&lt;2s</a:t>
            </a:r>
            <a:endParaRPr lang="en-US" sz="3800" dirty="0"/>
          </a:p>
        </p:txBody>
      </p:sp>
      <p:sp>
        <p:nvSpPr>
          <p:cNvPr id="22" name="Text 17"/>
          <p:cNvSpPr/>
          <p:nvPr/>
        </p:nvSpPr>
        <p:spPr>
          <a:xfrm>
            <a:off x="7360920" y="382219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latency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mid-range phone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360920" y="4443984"/>
            <a:ext cx="4434840" cy="1078992"/>
          </a:xfrm>
          <a:prstGeom prst="roundRect">
            <a:avLst>
              <a:gd name="adj" fmla="val 1016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360920" y="451713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3800" dirty="0"/>
          </a:p>
        </p:txBody>
      </p:sp>
      <p:sp>
        <p:nvSpPr>
          <p:cNvPr id="25" name="Text 20"/>
          <p:cNvSpPr/>
          <p:nvPr/>
        </p:nvSpPr>
        <p:spPr>
          <a:xfrm>
            <a:off x="7360920" y="508406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scream classification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11480" y="626364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SafeStep · Built for every woman · Hackathon 2026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CONCERN 01  /  FALSE ALARMS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Positive Reduction Mechanism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5727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safeguards before any alert is dispatched.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0116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4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423160"/>
            <a:ext cx="3749040" cy="420624"/>
          </a:xfrm>
          <a:prstGeom prst="roundRect">
            <a:avLst>
              <a:gd name="adj" fmla="val 19565"/>
            </a:avLst>
          </a:prstGeom>
          <a:solidFill>
            <a:srgbClr val="FFF1F3"/>
          </a:solidFill>
          <a:ln w="12700">
            <a:solidFill>
              <a:srgbClr val="F5C2C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53288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4780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for a bus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2935224"/>
            <a:ext cx="3749040" cy="420624"/>
          </a:xfrm>
          <a:prstGeom prst="roundRect">
            <a:avLst>
              <a:gd name="adj" fmla="val 19565"/>
            </a:avLst>
          </a:prstGeom>
          <a:solidFill>
            <a:srgbClr val="FFF1F3"/>
          </a:solidFill>
          <a:ln w="12700">
            <a:solidFill>
              <a:srgbClr val="F5C2C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44952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29900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the phone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11480" y="3447288"/>
            <a:ext cx="3749040" cy="420624"/>
          </a:xfrm>
          <a:prstGeom prst="roundRect">
            <a:avLst>
              <a:gd name="adj" fmla="val 19565"/>
            </a:avLst>
          </a:prstGeom>
          <a:solidFill>
            <a:srgbClr val="FFF1F3"/>
          </a:solidFill>
          <a:ln w="12700">
            <a:solidFill>
              <a:srgbClr val="F5C2C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57016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35021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a horror movie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11480" y="3959352"/>
            <a:ext cx="3749040" cy="420624"/>
          </a:xfrm>
          <a:prstGeom prst="roundRect">
            <a:avLst>
              <a:gd name="adj" fmla="val 19565"/>
            </a:avLst>
          </a:prstGeom>
          <a:solidFill>
            <a:srgbClr val="FFF1F3"/>
          </a:solidFill>
          <a:ln w="12700">
            <a:solidFill>
              <a:srgbClr val="F5C2C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69080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40142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1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 argument nearby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343400" y="32004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898C0"/>
                </a:solidFill>
              </a:rPr>
              <a:t>→</a:t>
            </a:r>
            <a:endParaRPr lang="en-US" sz="2800" dirty="0"/>
          </a:p>
        </p:txBody>
      </p:sp>
      <p:sp>
        <p:nvSpPr>
          <p:cNvPr id="20" name="Text 14"/>
          <p:cNvSpPr/>
          <p:nvPr/>
        </p:nvSpPr>
        <p:spPr>
          <a:xfrm>
            <a:off x="5120640" y="2011680"/>
            <a:ext cx="6629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safeguards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120640" y="2395728"/>
            <a:ext cx="66294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sx="100000" sy="100000" kx="0" ky="0" algn="bl" rotWithShape="0" blurRad="152400" dist="50800" dir="2700000">
              <a:srgbClr val="1E2D5A">
                <a:alpha val="9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303520" y="2505456"/>
            <a:ext cx="420624" cy="420624"/>
          </a:xfrm>
          <a:prstGeom prst="ellipse">
            <a:avLst/>
          </a:prstGeom>
          <a:solidFill>
            <a:srgbClr val="6C3FA2">
              <a:alpha val="15000"/>
            </a:srgbClr>
          </a:solidFill>
          <a:ln w="12700">
            <a:solidFill>
              <a:srgbClr val="6C3FA2">
                <a:alpha val="1500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2615184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833872" y="245973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Multi-sensor confirmation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833872" y="27157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signals (audio + motion + location) must agree before scoring a threat — one noisy mic cannot alone trigger an alert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120640" y="3118104"/>
            <a:ext cx="66294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sx="100000" sy="100000" kx="0" ky="0" algn="bl" rotWithShape="0" blurRad="152400" dist="50800" dir="2700000">
              <a:srgbClr val="1E2D5A">
                <a:alpha val="9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5303520" y="3227832"/>
            <a:ext cx="420624" cy="420624"/>
          </a:xfrm>
          <a:prstGeom prst="ellipse">
            <a:avLst/>
          </a:prstGeom>
          <a:solidFill>
            <a:srgbClr val="0EA5A0">
              <a:alpha val="15000"/>
            </a:srgbClr>
          </a:solidFill>
          <a:ln w="12700">
            <a:solidFill>
              <a:srgbClr val="0EA5A0">
                <a:alpha val="15000"/>
              </a:srgbClr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3248" y="3337560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833872" y="318211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threshold ≥ 80%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5833872" y="34381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must sustain high confidence for ≥ 5 consecutive inference cycles (10 s window) — a single spike is ignored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5120640" y="3840480"/>
            <a:ext cx="66294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sx="100000" sy="100000" kx="0" ky="0" algn="bl" rotWithShape="0" blurRad="152400" dist="50800" dir="2700000">
              <a:srgbClr val="1E2D5A">
                <a:alpha val="9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5303520" y="3950208"/>
            <a:ext cx="420624" cy="420624"/>
          </a:xfrm>
          <a:prstGeom prst="ellipse">
            <a:avLst/>
          </a:prstGeom>
          <a:solidFill>
            <a:srgbClr val="1E2D5A">
              <a:alpha val="15000"/>
            </a:srgbClr>
          </a:solidFill>
          <a:ln w="12700">
            <a:solidFill>
              <a:srgbClr val="1E2D5A">
                <a:alpha val="15000"/>
              </a:srgbClr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3248" y="4059936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833872" y="390448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pattern validation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5833872" y="41605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Time-of-day, movement velocity &amp; zone risk are factored in — running fast on a safe jogging route ≠ distress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5120640" y="4562856"/>
            <a:ext cx="66294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sx="100000" sy="100000" kx="0" ky="0" algn="bl" rotWithShape="0" blurRad="152400" dist="50800" dir="2700000">
              <a:srgbClr val="1E2D5A">
                <a:alpha val="9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5303520" y="4672584"/>
            <a:ext cx="420624" cy="420624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15000"/>
              </a:srgbClr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3248" y="4782312"/>
            <a:ext cx="201168" cy="20116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833872" y="462686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15-second cancellation window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5833872" y="488289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silent on-screen prompt lets the user cancel within 15 s before any alert fires — no accidental dispatch</a:t>
            </a:r>
            <a:endParaRPr lang="en-US" sz="1050" dirty="0"/>
          </a:p>
        </p:txBody>
      </p:sp>
      <p:sp>
        <p:nvSpPr>
          <p:cNvPr id="41" name="Shape 31"/>
          <p:cNvSpPr/>
          <p:nvPr/>
        </p:nvSpPr>
        <p:spPr>
          <a:xfrm>
            <a:off x="411480" y="5989320"/>
            <a:ext cx="11365992" cy="384048"/>
          </a:xfrm>
          <a:prstGeom prst="roundRect">
            <a:avLst>
              <a:gd name="adj" fmla="val 19048"/>
            </a:avLst>
          </a:prstGeom>
          <a:solidFill>
            <a:srgbClr val="EEFAF6"/>
          </a:solidFill>
          <a:ln w="12700">
            <a:solidFill>
              <a:srgbClr val="A7DFC9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6099048"/>
            <a:ext cx="201168" cy="20116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914400" y="6007608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safeguards must pass in sequence. A false alarm from any single cause cannot make it through the full pipeline.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CONCERN 02  /  PRIVACY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"Are you recording users all the time?"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5727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Here's exactly what happens to audio data at each stage.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3703320" cy="4069080"/>
          </a:xfrm>
          <a:prstGeom prst="roundRect">
            <a:avLst>
              <a:gd name="adj" fmla="val 3457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sx="100000" sy="100000" kx="0" ky="0" algn="bl" rotWithShape="0" blurRad="152400" dist="50800" dir="2700000">
              <a:srgbClr val="1E2D5A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01368" y="2084832"/>
            <a:ext cx="914400" cy="914400"/>
          </a:xfrm>
          <a:prstGeom prst="ellipse">
            <a:avLst/>
          </a:prstGeom>
          <a:solidFill>
            <a:srgbClr val="6C3FA2">
              <a:alpha val="12000"/>
            </a:srgbClr>
          </a:solidFill>
          <a:ln w="12700">
            <a:solidFill>
              <a:srgbClr val="6C3FA2">
                <a:alpha val="12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92" y="2276856"/>
            <a:ext cx="530352" cy="530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30906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— Listen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51560" y="3493008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EEFAF6"/>
          </a:solidFill>
          <a:ln w="12700">
            <a:solidFill>
              <a:srgbClr val="A7DF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349300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storage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94106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39044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audio sampled in a rolling 2-second buffer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59943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456285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is immediately overwritten — never written to disk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525780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52212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happens entirely in device RAM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023360" y="3840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898C0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4343400" y="1965960"/>
            <a:ext cx="3703320" cy="4069080"/>
          </a:xfrm>
          <a:prstGeom prst="roundRect">
            <a:avLst>
              <a:gd name="adj" fmla="val 3457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sx="100000" sy="100000" kx="0" ky="0" algn="bl" rotWithShape="0" blurRad="152400" dist="50800" dir="2700000">
              <a:srgbClr val="1E2D5A">
                <a:alpha val="9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733288" y="2084832"/>
            <a:ext cx="914400" cy="914400"/>
          </a:xfrm>
          <a:prstGeom prst="ellipse">
            <a:avLst/>
          </a:prstGeom>
          <a:solidFill>
            <a:srgbClr val="0EA5A0">
              <a:alpha val="12000"/>
            </a:srgbClr>
          </a:solidFill>
          <a:ln w="12700">
            <a:solidFill>
              <a:srgbClr val="0EA5A0">
                <a:alpha val="1200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2276856"/>
            <a:ext cx="530352" cy="53035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43400" y="30906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 — Analyse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983480" y="3493008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E0F7F6"/>
          </a:solidFill>
          <a:ln w="12700">
            <a:solidFill>
              <a:srgbClr val="99DDD9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4983480" y="349300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only</a:t>
            </a:r>
            <a:endParaRPr lang="en-US" sz="1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4568" y="3941064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846320" y="39044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model runs locally — no data leaves the phone</a:t>
            </a:r>
            <a:endParaRPr lang="en-US" sz="11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4568" y="4599432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846320" y="456285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threat score (a number) is produced, not audio</a:t>
            </a:r>
            <a:endParaRPr lang="en-US" sz="11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4568" y="5257800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846320" y="52212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 calls during normal operation</a:t>
            </a:r>
            <a:endParaRPr lang="en-US" sz="1100" dirty="0"/>
          </a:p>
        </p:txBody>
      </p:sp>
      <p:sp>
        <p:nvSpPr>
          <p:cNvPr id="31" name="Text 21"/>
          <p:cNvSpPr/>
          <p:nvPr/>
        </p:nvSpPr>
        <p:spPr>
          <a:xfrm>
            <a:off x="7955280" y="3840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898C0"/>
                </a:solidFill>
              </a:rPr>
              <a:t>→</a:t>
            </a:r>
            <a:endParaRPr lang="en-US" sz="2200" dirty="0"/>
          </a:p>
        </p:txBody>
      </p:sp>
      <p:sp>
        <p:nvSpPr>
          <p:cNvPr id="32" name="Shape 22"/>
          <p:cNvSpPr/>
          <p:nvPr/>
        </p:nvSpPr>
        <p:spPr>
          <a:xfrm>
            <a:off x="8275320" y="1965960"/>
            <a:ext cx="3703320" cy="4069080"/>
          </a:xfrm>
          <a:prstGeom prst="roundRect">
            <a:avLst>
              <a:gd name="adj" fmla="val 3457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sx="100000" sy="100000" kx="0" ky="0" algn="bl" rotWithShape="0" blurRad="152400" dist="50800" dir="2700000">
              <a:srgbClr val="1E2D5A">
                <a:alpha val="9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9665208" y="2084832"/>
            <a:ext cx="914400" cy="914400"/>
          </a:xfrm>
          <a:prstGeom prst="ellipse">
            <a:avLst/>
          </a:prstGeom>
          <a:solidFill>
            <a:srgbClr val="E8445A">
              <a:alpha val="12000"/>
            </a:srgbClr>
          </a:solidFill>
          <a:ln w="12700">
            <a:solidFill>
              <a:srgbClr val="E8445A">
                <a:alpha val="12000"/>
              </a:srgbClr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7232" y="2276856"/>
            <a:ext cx="530352" cy="53035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8275320" y="309067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 — Alert triggered</a:t>
            </a:r>
            <a:endParaRPr lang="en-US" sz="1300" dirty="0"/>
          </a:p>
        </p:txBody>
      </p:sp>
      <p:sp>
        <p:nvSpPr>
          <p:cNvPr id="36" name="Shape 25"/>
          <p:cNvSpPr/>
          <p:nvPr/>
        </p:nvSpPr>
        <p:spPr>
          <a:xfrm>
            <a:off x="8915400" y="3493008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FFF1F3"/>
          </a:solidFill>
          <a:ln w="12700">
            <a:solidFill>
              <a:srgbClr val="F5C2CB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8915400" y="3493008"/>
            <a:ext cx="2423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clip only</a:t>
            </a:r>
            <a:endParaRPr lang="en-US" sz="10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6488" y="3941064"/>
            <a:ext cx="201168" cy="20116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8778240" y="39044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confirmed threat: 30 s AES-256 encrypted clip saved</a:t>
            </a:r>
            <a:endParaRPr lang="en-US" sz="110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6488" y="4599432"/>
            <a:ext cx="201168" cy="201168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8778240" y="456285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sent solely to user-defined contacts + authorities</a:t>
            </a:r>
            <a:endParaRPr lang="en-US" sz="11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6488" y="5257800"/>
            <a:ext cx="201168" cy="201168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8778240" y="52212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 delete the clip from the app at any time</a:t>
            </a:r>
            <a:endParaRPr lang="en-US" sz="1100" dirty="0"/>
          </a:p>
        </p:txBody>
      </p:sp>
      <p:sp>
        <p:nvSpPr>
          <p:cNvPr id="44" name="Shape 30"/>
          <p:cNvSpPr/>
          <p:nvPr/>
        </p:nvSpPr>
        <p:spPr>
          <a:xfrm>
            <a:off x="411480" y="6199632"/>
            <a:ext cx="11365992" cy="347472"/>
          </a:xfrm>
          <a:prstGeom prst="roundRect">
            <a:avLst>
              <a:gd name="adj" fmla="val 21053"/>
            </a:avLst>
          </a:prstGeom>
          <a:solidFill>
            <a:srgbClr val="1E2D5A">
              <a:alpha val="6000"/>
            </a:srgbClr>
          </a:solidFill>
          <a:ln w="12700">
            <a:solidFill>
              <a:srgbClr val="C8DAFF"/>
            </a:solidFill>
            <a:prstDash val="solid"/>
          </a:ln>
        </p:spPr>
      </p:sp>
      <p:sp>
        <p:nvSpPr>
          <p:cNvPr id="45" name="Text 31"/>
          <p:cNvSpPr/>
          <p:nvPr/>
        </p:nvSpPr>
        <p:spPr>
          <a:xfrm>
            <a:off x="548640" y="6199632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design: audio never stored unless a confirmed threat occurs, and even then only the user controls the clip.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C8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CONCERN 03  /  FEASIBILITY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 you actually need the ESP32?"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5727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answer: no — and that's a feature, not a flaw. Here's our honest architecture rationale.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5303520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12700">
            <a:solidFill>
              <a:srgbClr val="A7DFC9"/>
            </a:solidFill>
            <a:prstDash val="solid"/>
          </a:ln>
          <a:effectLst>
            <a:outerShdw sx="100000" sy="100000" kx="0" ky="0" algn="bl" rotWithShape="0" blurRad="152400" dist="50800" dir="2700000">
              <a:srgbClr val="1E2D5A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029968"/>
            <a:ext cx="2377440" cy="301752"/>
          </a:xfrm>
          <a:prstGeom prst="roundRect">
            <a:avLst>
              <a:gd name="adj" fmla="val 2727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2996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Recommended MVP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288" y="242316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31546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Smartphone-only</a:t>
            </a:r>
            <a:endParaRPr lang="en-US" sz="1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67588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363931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mic, GPS, accelerometer, gyro — all sensors already present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16052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4123944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runs on the phone CPU — no extra hardware required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645152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4608576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deployable to 3B+ Android devices today</a:t>
            </a:r>
            <a:endParaRPr lang="en-US" sz="11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5129784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0120" y="5093208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extra hardware cost for end users</a:t>
            </a:r>
            <a:endParaRPr lang="en-US" sz="11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5614416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60120" y="5577840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hackathon prototype and real-world adoption path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5641848" y="3767328"/>
            <a:ext cx="530352" cy="530352"/>
          </a:xfrm>
          <a:prstGeom prst="ellipse">
            <a:avLst/>
          </a:prstGeom>
          <a:solidFill>
            <a:srgbClr val="8898C0"/>
          </a:solidFill>
          <a:ln w="12700">
            <a:solidFill>
              <a:srgbClr val="8898C0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5641848" y="37673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6291072" y="1965960"/>
            <a:ext cx="5468112" cy="4251960"/>
          </a:xfrm>
          <a:prstGeom prst="roundRect">
            <a:avLst>
              <a:gd name="adj" fmla="val 3011"/>
            </a:avLst>
          </a:prstGeom>
          <a:solidFill>
            <a:srgbClr val="FFFFFF"/>
          </a:solidFill>
          <a:ln w="12700">
            <a:solidFill>
              <a:srgbClr val="D8E2F5"/>
            </a:solidFill>
            <a:prstDash val="solid"/>
          </a:ln>
          <a:effectLst>
            <a:outerShdw sx="100000" sy="100000" kx="0" ky="0" algn="bl" rotWithShape="0" blurRad="152400" dist="50800" dir="2700000">
              <a:srgbClr val="1E2D5A">
                <a:alpha val="9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537960" y="2029968"/>
            <a:ext cx="3200400" cy="301752"/>
          </a:xfrm>
          <a:prstGeom prst="roundRect">
            <a:avLst>
              <a:gd name="adj" fmla="val 27273"/>
            </a:avLst>
          </a:prstGeom>
          <a:solidFill>
            <a:srgbClr val="E8E0F7"/>
          </a:solidFill>
          <a:ln w="12700">
            <a:solidFill>
              <a:srgbClr val="C5B4ED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6537960" y="2029968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3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Wearable stretch goal</a:t>
            </a:r>
            <a:endParaRPr lang="en-US" sz="11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5128" y="2423160"/>
            <a:ext cx="640080" cy="6400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291072" y="3154680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 + ESP32 wearable</a:t>
            </a:r>
            <a:endParaRPr lang="en-US" sz="16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675888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821424" y="3639312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dedicated mic — phone can be locked in bag or pocket</a:t>
            </a:r>
            <a:endParaRPr lang="en-US" sz="115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160520"/>
            <a:ext cx="201168" cy="20116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821424" y="4123944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Offloads ML inference from phone battery; ESP32 sips ~80 mA</a:t>
            </a:r>
            <a:endParaRPr lang="en-US" sz="115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4645152"/>
            <a:ext cx="201168" cy="20116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821424" y="460857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form factor (watch/clip) adds discreet SOS button as fallback</a:t>
            </a:r>
            <a:endParaRPr lang="en-US" sz="115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0" y="5129784"/>
            <a:ext cx="201168" cy="201168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6821424" y="509320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5.0 link to phone for alert dispatch</a:t>
            </a:r>
            <a:endParaRPr lang="en-US" sz="115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2240" y="5614416"/>
            <a:ext cx="201168" cy="201168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6821424" y="557784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high-risk scenarios where phone is inaccessible</a:t>
            </a:r>
            <a:endParaRPr lang="en-US" sz="1150" dirty="0"/>
          </a:p>
        </p:txBody>
      </p:sp>
      <p:sp>
        <p:nvSpPr>
          <p:cNvPr id="38" name="Shape 24"/>
          <p:cNvSpPr/>
          <p:nvPr/>
        </p:nvSpPr>
        <p:spPr>
          <a:xfrm>
            <a:off x="411480" y="6355080"/>
            <a:ext cx="11365992" cy="347472"/>
          </a:xfrm>
          <a:prstGeom prst="roundRect">
            <a:avLst>
              <a:gd name="adj" fmla="val 21053"/>
            </a:avLst>
          </a:prstGeom>
          <a:solidFill>
            <a:srgbClr val="1E2D5A">
              <a:alpha val="6000"/>
            </a:srgbClr>
          </a:solidFill>
          <a:ln w="12700">
            <a:solidFill>
              <a:srgbClr val="C8DAFF"/>
            </a:solidFill>
            <a:prstDash val="solid"/>
          </a:ln>
        </p:spPr>
      </p:sp>
      <p:sp>
        <p:nvSpPr>
          <p:cNvPr id="39" name="Text 25"/>
          <p:cNvSpPr/>
          <p:nvPr/>
        </p:nvSpPr>
        <p:spPr>
          <a:xfrm>
            <a:off x="548640" y="635508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hackathon demo uses smartphone-only (v1). ESP32 wearable is a planned v2 for users in higher-risk environments.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SafeStep — Hackathon Pitch</dc:title>
  <dc:subject>PptxGenJS Presentation</dc:subject>
  <dc:creator>SafeStep Team</dc:creator>
  <cp:lastModifiedBy>SafeStep Team</cp:lastModifiedBy>
  <cp:revision>1</cp:revision>
  <dcterms:created xsi:type="dcterms:W3CDTF">2026-06-21T15:37:26Z</dcterms:created>
  <dcterms:modified xsi:type="dcterms:W3CDTF">2026-06-21T15:37:26Z</dcterms:modified>
</cp:coreProperties>
</file>